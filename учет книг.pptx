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31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5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20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45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71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87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04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12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0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54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8810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98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460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12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36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39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656FD-A394-4918-911C-056B6091F56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B355FA9-6CB1-442D-994A-A6B892255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5D9FE-8FA0-A959-42E1-955DB5978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777" y="1795921"/>
            <a:ext cx="8300226" cy="1646302"/>
          </a:xfrm>
        </p:spPr>
        <p:txBody>
          <a:bodyPr/>
          <a:lstStyle/>
          <a:p>
            <a:r>
              <a:rPr lang="ru-RU" dirty="0"/>
              <a:t>Система учёта книг (</a:t>
            </a:r>
            <a:r>
              <a:rPr lang="en-US" dirty="0"/>
              <a:t>CLI)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AF78FF-C2B0-A211-D8A7-96DDC2B02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Работу выполнила </a:t>
            </a:r>
          </a:p>
          <a:p>
            <a:r>
              <a:rPr lang="ru-RU" dirty="0"/>
              <a:t>Свидерская А. А.,</a:t>
            </a:r>
          </a:p>
          <a:p>
            <a:r>
              <a:rPr lang="ru-RU" dirty="0"/>
              <a:t>группа ИС-31</a:t>
            </a:r>
          </a:p>
        </p:txBody>
      </p:sp>
    </p:spTree>
    <p:extLst>
      <p:ext uri="{BB962C8B-B14F-4D97-AF65-F5344CB8AC3E}">
        <p14:creationId xmlns:p14="http://schemas.microsoft.com/office/powerpoint/2010/main" val="147725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9906F-0049-DB84-E226-3E8EBB2EE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FB7C3-259A-89E3-A388-041EEBFB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Цель:</a:t>
            </a:r>
            <a:r>
              <a:rPr lang="ru-RU" sz="2000" dirty="0"/>
              <a:t> создать консольное приложение для локального учёта книг.</a:t>
            </a:r>
          </a:p>
          <a:p>
            <a:r>
              <a:rPr lang="ru-RU" sz="2000" b="1" dirty="0"/>
              <a:t>Ключевые задачи:</a:t>
            </a:r>
            <a:endParaRPr lang="ru-RU" sz="2000" dirty="0"/>
          </a:p>
          <a:p>
            <a:pPr lvl="1"/>
            <a:r>
              <a:rPr lang="ru-RU" sz="1800" dirty="0"/>
              <a:t>Настроить </a:t>
            </a:r>
            <a:r>
              <a:rPr lang="ru-RU" sz="1800" dirty="0" err="1"/>
              <a:t>Git</a:t>
            </a:r>
            <a:r>
              <a:rPr lang="ru-RU" sz="1800" dirty="0"/>
              <a:t>-репозиторий и структуру </a:t>
            </a:r>
            <a:r>
              <a:rPr lang="ru-RU" sz="1800" dirty="0" err="1"/>
              <a:t>src</a:t>
            </a:r>
            <a:r>
              <a:rPr lang="ru-RU" sz="1800" dirty="0"/>
              <a:t>/, </a:t>
            </a:r>
            <a:r>
              <a:rPr lang="ru-RU" sz="1800" dirty="0" err="1"/>
              <a:t>tests</a:t>
            </a:r>
            <a:r>
              <a:rPr lang="ru-RU" sz="1800" dirty="0"/>
              <a:t>/, </a:t>
            </a:r>
            <a:r>
              <a:rPr lang="ru-RU" sz="1800" dirty="0" err="1"/>
              <a:t>data</a:t>
            </a:r>
            <a:r>
              <a:rPr lang="ru-RU" sz="1800" dirty="0"/>
              <a:t>/</a:t>
            </a:r>
          </a:p>
          <a:p>
            <a:pPr lvl="1"/>
            <a:r>
              <a:rPr lang="ru-RU" sz="1800" dirty="0"/>
              <a:t>Реализовать модель сущности через @dataclass</a:t>
            </a:r>
          </a:p>
          <a:p>
            <a:pPr lvl="1"/>
            <a:r>
              <a:rPr lang="ru-RU" sz="1800" dirty="0"/>
              <a:t>Создать CLI на </a:t>
            </a:r>
            <a:r>
              <a:rPr lang="ru-RU" sz="1800" dirty="0" err="1"/>
              <a:t>argparse</a:t>
            </a:r>
            <a:r>
              <a:rPr lang="ru-RU" sz="1800" dirty="0"/>
              <a:t> с валидацией и обработкой ошибок</a:t>
            </a:r>
          </a:p>
          <a:p>
            <a:pPr lvl="1"/>
            <a:r>
              <a:rPr lang="ru-RU" sz="1800" dirty="0"/>
              <a:t>Покрыть код тестами (</a:t>
            </a:r>
            <a:r>
              <a:rPr lang="ru-RU" sz="1800" dirty="0" err="1"/>
              <a:t>pytest</a:t>
            </a:r>
            <a:r>
              <a:rPr lang="ru-RU" sz="1800" dirty="0"/>
              <a:t>) и обеспечить 0 предупреждений flake8</a:t>
            </a:r>
          </a:p>
          <a:p>
            <a:pPr lvl="1"/>
            <a:r>
              <a:rPr lang="ru-RU" sz="1800" dirty="0"/>
              <a:t>Подготовить документацию и отчёт</a:t>
            </a:r>
          </a:p>
        </p:txBody>
      </p:sp>
    </p:spTree>
    <p:extLst>
      <p:ext uri="{BB962C8B-B14F-4D97-AF65-F5344CB8AC3E}">
        <p14:creationId xmlns:p14="http://schemas.microsoft.com/office/powerpoint/2010/main" val="214529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91317-DDC7-E9A9-5CFD-0118ECA3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Технологический стек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F993853-8B94-BA32-47CE-BE1DBD450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698066"/>
              </p:ext>
            </p:extLst>
          </p:nvPr>
        </p:nvGraphicFramePr>
        <p:xfrm>
          <a:off x="677863" y="2821146"/>
          <a:ext cx="8596312" cy="283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6703315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912190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Инструмент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Применение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73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sqlite3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Локальная БД без сервера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24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dataclasses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Типизированная модель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51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tabulate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Вывод в консоль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01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pytest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Изолированные тесты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82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flake8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Контроль стиля (</a:t>
                      </a:r>
                      <a:r>
                        <a:rPr lang="en-US" dirty="0">
                          <a:effectLst/>
                        </a:rPr>
                        <a:t>PEP 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680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argparse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Обработка аргументов командной строки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966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3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3804D-013A-CED2-A308-787C8E66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приложения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416D3-BA6A-E8A5-5A4A-C8965AFE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Главный модуль (main.py):</a:t>
            </a:r>
            <a:r>
              <a:rPr lang="ru-RU" dirty="0"/>
              <a:t> Принимает команды пользователя, проверяет их правильность и запускает нужные действия.</a:t>
            </a:r>
          </a:p>
          <a:p>
            <a:r>
              <a:rPr lang="ru-RU" b="1" dirty="0"/>
              <a:t>Модуль вывода (view.py):</a:t>
            </a:r>
            <a:r>
              <a:rPr lang="ru-RU" dirty="0"/>
              <a:t> Отвечает только за красивое отображение информации в консоли.</a:t>
            </a:r>
          </a:p>
          <a:p>
            <a:r>
              <a:rPr lang="ru-RU" b="1" dirty="0"/>
              <a:t>Модуль логики (repository.py):</a:t>
            </a:r>
            <a:r>
              <a:rPr lang="ru-RU" dirty="0"/>
              <a:t> Содержит основные операции: создание записи, поиск, изменение статуса, удаление. Преобразует данные из базы в объекты программы и обратно.</a:t>
            </a:r>
          </a:p>
          <a:p>
            <a:r>
              <a:rPr lang="ru-RU" b="1" dirty="0"/>
              <a:t>Модуль подключения (database.py):</a:t>
            </a:r>
            <a:r>
              <a:rPr lang="ru-RU" dirty="0"/>
              <a:t> Открывает файл базы данных, создаёт таблицу при первом запуске и настраивает доступ к столбцам по именам.</a:t>
            </a:r>
          </a:p>
          <a:p>
            <a:r>
              <a:rPr lang="ru-RU" b="1" dirty="0"/>
              <a:t>Модуль моделей (models.py):</a:t>
            </a:r>
            <a:r>
              <a:rPr lang="ru-RU" dirty="0"/>
              <a:t> Описывает, какие поля есть у книги (название, автор, год, ISBN, статус прочтения).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50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0F1C4-FE58-6B6E-FAFF-E24C598B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данных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3E125FD-5F2F-9D43-E351-1961ADCF5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625202"/>
              </p:ext>
            </p:extLst>
          </p:nvPr>
        </p:nvGraphicFramePr>
        <p:xfrm>
          <a:off x="677334" y="2504836"/>
          <a:ext cx="8596311" cy="283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33290428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97475868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387256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948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Optional[int]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Уникальный идентификатор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025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Название книги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08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Автор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77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effectLst/>
                        </a:rPr>
                        <a:t>Год издания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833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isbn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Optional[str]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ISBN (</a:t>
                      </a:r>
                      <a:r>
                        <a:rPr lang="ru-RU">
                          <a:effectLst/>
                        </a:rPr>
                        <a:t>уникальный)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383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is_read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Статус прочтения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32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7A3CB-B2A7-9918-6C69-00C17744B684}"/>
              </a:ext>
            </a:extLst>
          </p:cNvPr>
          <p:cNvSpPr txBox="1"/>
          <p:nvPr/>
        </p:nvSpPr>
        <p:spPr>
          <a:xfrm>
            <a:off x="582331" y="1919368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Класс </a:t>
            </a:r>
            <a:r>
              <a:rPr lang="en-US" b="1" dirty="0"/>
              <a:t>Book (</a:t>
            </a:r>
            <a:r>
              <a:rPr lang="en-US" b="1" dirty="0" err="1"/>
              <a:t>dataclass</a:t>
            </a:r>
            <a:r>
              <a:rPr lang="en-US" b="1" dirty="0"/>
              <a:t>):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D71BE-7CB4-2DEF-CC37-0B5974B3AC21}"/>
              </a:ext>
            </a:extLst>
          </p:cNvPr>
          <p:cNvSpPr txBox="1"/>
          <p:nvPr/>
        </p:nvSpPr>
        <p:spPr>
          <a:xfrm>
            <a:off x="677334" y="5590746"/>
            <a:ext cx="825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Особенность: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SQLite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хранит BOOLEAN как INTEGER (0/1), требуется явное приведение типов при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61780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81C6-45FB-461E-81D3-1746847A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Работа с базой данных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9A0A89-5FC6-BB03-2585-96278C8E9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73516"/>
          </a:xfrm>
        </p:spPr>
        <p:txBody>
          <a:bodyPr>
            <a:normAutofit/>
          </a:bodyPr>
          <a:lstStyle/>
          <a:p>
            <a:r>
              <a:rPr lang="ru-RU" b="1" dirty="0"/>
              <a:t>Подключение:</a:t>
            </a:r>
            <a:endParaRPr lang="ru-RU" dirty="0"/>
          </a:p>
          <a:p>
            <a:pPr lvl="1"/>
            <a:r>
              <a:rPr lang="ru-RU" dirty="0"/>
              <a:t>Использование встроенного модуля </a:t>
            </a:r>
            <a:r>
              <a:rPr lang="en-US" dirty="0"/>
              <a:t>sqlite3</a:t>
            </a:r>
          </a:p>
          <a:p>
            <a:pPr lvl="1"/>
            <a:r>
              <a:rPr lang="ru-RU" dirty="0"/>
              <a:t>Динамическое определение пути к БД</a:t>
            </a:r>
          </a:p>
          <a:p>
            <a:r>
              <a:rPr lang="ru-RU" b="1" dirty="0"/>
              <a:t>Схема таблицы </a:t>
            </a:r>
            <a:r>
              <a:rPr lang="en-US" b="1" dirty="0"/>
              <a:t>books:</a:t>
            </a:r>
            <a:endParaRPr lang="en-US" dirty="0"/>
          </a:p>
          <a:p>
            <a:pPr lvl="1"/>
            <a:r>
              <a:rPr lang="en-US" dirty="0"/>
              <a:t>id — PRIMARY KEY AUTOINCREMENT</a:t>
            </a:r>
          </a:p>
          <a:p>
            <a:pPr lvl="1"/>
            <a:r>
              <a:rPr lang="en-US" dirty="0"/>
              <a:t>title, author, year — NOT NULL</a:t>
            </a:r>
          </a:p>
          <a:p>
            <a:pPr lvl="1"/>
            <a:r>
              <a:rPr lang="en-US" dirty="0" err="1"/>
              <a:t>isbn</a:t>
            </a:r>
            <a:r>
              <a:rPr lang="en-US" dirty="0"/>
              <a:t> — UNIQUE</a:t>
            </a:r>
          </a:p>
          <a:p>
            <a:pPr lvl="1"/>
            <a:r>
              <a:rPr lang="en-US" dirty="0" err="1"/>
              <a:t>Is_read</a:t>
            </a:r>
            <a:r>
              <a:rPr lang="en-US" dirty="0"/>
              <a:t> — DEFAULT 0</a:t>
            </a:r>
          </a:p>
          <a:p>
            <a:r>
              <a:rPr lang="ru-RU" b="1" dirty="0"/>
              <a:t>Безопасность:</a:t>
            </a:r>
            <a:endParaRPr lang="ru-RU" dirty="0"/>
          </a:p>
          <a:p>
            <a:pPr lvl="1"/>
            <a:r>
              <a:rPr lang="ru-RU" dirty="0"/>
              <a:t>Все запросы </a:t>
            </a:r>
            <a:r>
              <a:rPr lang="ru-RU" dirty="0" err="1"/>
              <a:t>параметризованы</a:t>
            </a:r>
            <a:r>
              <a:rPr lang="ru-RU" dirty="0"/>
              <a:t> (защита от </a:t>
            </a:r>
            <a:r>
              <a:rPr lang="en-US" dirty="0"/>
              <a:t>SQL-</a:t>
            </a:r>
            <a:r>
              <a:rPr lang="ru-RU" dirty="0"/>
              <a:t>инъекций)</a:t>
            </a:r>
          </a:p>
          <a:p>
            <a:pPr lvl="1"/>
            <a:r>
              <a:rPr lang="ru-RU" dirty="0"/>
              <a:t>Соединения закрываются в блоке </a:t>
            </a:r>
            <a:r>
              <a:rPr lang="en-US" dirty="0"/>
              <a:t>finally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6493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8A6DD-B46D-331B-A4D0-16034B0EB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42" y="220929"/>
            <a:ext cx="8596668" cy="1320800"/>
          </a:xfrm>
        </p:spPr>
        <p:txBody>
          <a:bodyPr/>
          <a:lstStyle/>
          <a:p>
            <a:r>
              <a:rPr lang="ru-RU" b="1" dirty="0"/>
              <a:t>Интерфейс командной строки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74E7D07-2912-744C-459D-55834EF28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43" y="855023"/>
            <a:ext cx="9586356" cy="5782047"/>
          </a:xfrm>
        </p:spPr>
      </p:pic>
    </p:spTree>
    <p:extLst>
      <p:ext uri="{BB962C8B-B14F-4D97-AF65-F5344CB8AC3E}">
        <p14:creationId xmlns:p14="http://schemas.microsoft.com/office/powerpoint/2010/main" val="208711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1A3113-461A-C486-7B4E-5B838669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BC5BA3-57FD-53C8-9D72-B334C71D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Уровни тестов:</a:t>
            </a:r>
            <a:endParaRPr lang="ru-RU" sz="2000" dirty="0"/>
          </a:p>
          <a:p>
            <a:pPr lvl="1"/>
            <a:r>
              <a:rPr lang="ru-RU" sz="1800" b="1" dirty="0"/>
              <a:t>Модульные</a:t>
            </a:r>
            <a:r>
              <a:rPr lang="ru-RU" sz="1800" dirty="0"/>
              <a:t> (</a:t>
            </a:r>
            <a:r>
              <a:rPr lang="en-US" sz="1800" dirty="0"/>
              <a:t>test_database.py)</a:t>
            </a:r>
            <a:r>
              <a:rPr lang="ru-RU" sz="1800" dirty="0"/>
              <a:t>: Проверка создания таблицы</a:t>
            </a:r>
          </a:p>
          <a:p>
            <a:pPr lvl="1"/>
            <a:r>
              <a:rPr lang="ru-RU" sz="1800" b="1" dirty="0"/>
              <a:t>Интеграционные</a:t>
            </a:r>
            <a:r>
              <a:rPr lang="ru-RU" sz="1800" dirty="0"/>
              <a:t> (</a:t>
            </a:r>
            <a:r>
              <a:rPr lang="en-US" sz="1800" dirty="0"/>
              <a:t>test_repository.py)</a:t>
            </a:r>
            <a:r>
              <a:rPr lang="ru-RU" sz="1800" dirty="0"/>
              <a:t>: Полный цикл </a:t>
            </a:r>
            <a:r>
              <a:rPr lang="en-US" sz="1800" dirty="0"/>
              <a:t>CRUD, </a:t>
            </a:r>
            <a:r>
              <a:rPr lang="ru-RU" sz="1800" dirty="0"/>
              <a:t>проверка вывода</a:t>
            </a:r>
          </a:p>
          <a:p>
            <a:pPr lvl="1"/>
            <a:r>
              <a:rPr lang="en-US" sz="1800" b="1" dirty="0"/>
              <a:t>CLI-</a:t>
            </a:r>
            <a:r>
              <a:rPr lang="ru-RU" sz="1800" b="1" dirty="0"/>
              <a:t>тесты</a:t>
            </a:r>
            <a:r>
              <a:rPr lang="ru-RU" sz="1800" dirty="0"/>
              <a:t> (</a:t>
            </a:r>
            <a:r>
              <a:rPr lang="en-US" sz="1800" dirty="0"/>
              <a:t>test_main.py)</a:t>
            </a:r>
            <a:r>
              <a:rPr lang="ru-RU" sz="1800" dirty="0"/>
              <a:t>: Парсинг аргументов, валидация</a:t>
            </a:r>
          </a:p>
          <a:p>
            <a:r>
              <a:rPr lang="ru-RU" sz="2000" b="1" dirty="0"/>
              <a:t>Инструменты:</a:t>
            </a:r>
            <a:endParaRPr lang="ru-RU" sz="2000" dirty="0"/>
          </a:p>
          <a:p>
            <a:pPr lvl="1"/>
            <a:r>
              <a:rPr lang="en-US" sz="1800" dirty="0" err="1"/>
              <a:t>pytest</a:t>
            </a:r>
            <a:endParaRPr lang="ru-RU" sz="1800" dirty="0"/>
          </a:p>
          <a:p>
            <a:pPr lvl="1"/>
            <a:r>
              <a:rPr lang="en-US" sz="1800" dirty="0" err="1"/>
              <a:t>capsys</a:t>
            </a:r>
            <a:r>
              <a:rPr lang="en-US" sz="1800" dirty="0"/>
              <a:t> </a:t>
            </a:r>
            <a:r>
              <a:rPr lang="ru-RU" sz="1800" dirty="0"/>
              <a:t>для захвата вывода</a:t>
            </a:r>
          </a:p>
          <a:p>
            <a:pPr lvl="1"/>
            <a:r>
              <a:rPr lang="en-US" sz="1800" dirty="0" err="1"/>
              <a:t>tmp_path</a:t>
            </a:r>
            <a:r>
              <a:rPr lang="en-US" sz="1800" dirty="0"/>
              <a:t> </a:t>
            </a:r>
            <a:r>
              <a:rPr lang="ru-RU" sz="1800" dirty="0"/>
              <a:t>для временных БД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194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2FFC4-2480-9451-0622-E3BBAAAF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Проблемы и решения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EAB115F-0ED2-3815-540E-105A30E442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129052"/>
              </p:ext>
            </p:extLst>
          </p:nvPr>
        </p:nvGraphicFramePr>
        <p:xfrm>
          <a:off x="677691" y="2071219"/>
          <a:ext cx="8596311" cy="39319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01455408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7065760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502193733"/>
                    </a:ext>
                  </a:extLst>
                </a:gridCol>
              </a:tblGrid>
              <a:tr h="3331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Суть затруднения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effectLst/>
                        </a:rPr>
                        <a:t>Решение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439385"/>
                  </a:ext>
                </a:extLst>
              </a:tr>
              <a:tr h="83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Типы данных </a:t>
                      </a:r>
                      <a:r>
                        <a:rPr lang="en-US" b="0" dirty="0">
                          <a:effectLst/>
                        </a:rPr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База возвращает числа (0/1) вместо логических True/</a:t>
                      </a:r>
                      <a:r>
                        <a:rPr lang="ru-RU" b="0" dirty="0" err="1">
                          <a:effectLst/>
                        </a:rPr>
                        <a:t>False</a:t>
                      </a:r>
                      <a:endParaRPr lang="ru-RU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Добавлено явное преобразование типа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bool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() </a:t>
                      </a:r>
                      <a:r>
                        <a:rPr lang="ru-RU" b="0" dirty="0">
                          <a:effectLst/>
                        </a:rPr>
                        <a:t>при чтении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058923"/>
                  </a:ext>
                </a:extLst>
              </a:tr>
              <a:tr h="133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Уникальность пустых </a:t>
                      </a:r>
                      <a:r>
                        <a:rPr lang="en-US" b="0" dirty="0">
                          <a:effectLst/>
                        </a:rPr>
                        <a:t>ISBN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Пустая строка считалась дубликатом, запрещая добавление книг без номера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Использование значения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NULL</a:t>
                      </a:r>
                      <a:r>
                        <a:rPr lang="ru-RU" b="0" dirty="0">
                          <a:effectLst/>
                        </a:rPr>
                        <a:t> вместо пустой строки (на него не распространяется UNIQUE)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672145"/>
                  </a:ext>
                </a:extLst>
              </a:tr>
              <a:tr h="83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>
                          <a:effectLst/>
                        </a:rPr>
                        <a:t>Ошибки импорта модулей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>
                          <a:effectLst/>
                        </a:rPr>
                        <a:t>Python не видел пакеты проекта при запуске из вложенных папок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effectLst/>
                        </a:rPr>
                        <a:t>Запуск строго из корня проекта через команду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python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-m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src.main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083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31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38FF8-FAAB-E370-4C82-678246AD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C65D7-D773-38FD-6224-0E76198F3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Все 9 автоматизированных тестов успешно пройдены (100% PASS). Проверка статического анализатора flake8 не выявила ошибок и предупреждений. Тесты полностью изолированы, используют временные базы данных и не влияют на рабочие данные.</a:t>
            </a:r>
          </a:p>
          <a:p>
            <a:r>
              <a:rPr lang="ru-RU" sz="2000" dirty="0"/>
              <a:t>Разработано полнофункциональное консольное приложение, соответствующее всем требованиям ТЗ. Код покрыт тестами, документирован и готов к демонстрации.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413525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</TotalTime>
  <Words>548</Words>
  <Application>Microsoft Office PowerPoint</Application>
  <PresentationFormat>Широкоэкранный</PresentationFormat>
  <Paragraphs>95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Segoe UI Semibold</vt:lpstr>
      <vt:lpstr>Trebuchet MS</vt:lpstr>
      <vt:lpstr>Wingdings 3</vt:lpstr>
      <vt:lpstr>Аспект</vt:lpstr>
      <vt:lpstr>Система учёта книг (CLI) </vt:lpstr>
      <vt:lpstr>Цель и задачи проекта </vt:lpstr>
      <vt:lpstr>Технологический стек </vt:lpstr>
      <vt:lpstr>Структура приложения </vt:lpstr>
      <vt:lpstr>Модель данных </vt:lpstr>
      <vt:lpstr>Работа с базой данных </vt:lpstr>
      <vt:lpstr>Интерфейс командной строки </vt:lpstr>
      <vt:lpstr>Тестирование </vt:lpstr>
      <vt:lpstr>Проблемы и решения 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alinka</dc:creator>
  <cp:lastModifiedBy>alinka</cp:lastModifiedBy>
  <cp:revision>1</cp:revision>
  <dcterms:created xsi:type="dcterms:W3CDTF">2026-05-19T14:16:48Z</dcterms:created>
  <dcterms:modified xsi:type="dcterms:W3CDTF">2026-05-19T17:08:04Z</dcterms:modified>
</cp:coreProperties>
</file>